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95" r:id="rId4"/>
    <p:sldId id="258" r:id="rId5"/>
    <p:sldId id="296" r:id="rId6"/>
    <p:sldId id="259" r:id="rId7"/>
    <p:sldId id="260" r:id="rId8"/>
    <p:sldId id="262" r:id="rId9"/>
  </p:sldIdLst>
  <p:sldSz cx="9144000" cy="5143500" type="screen16x9"/>
  <p:notesSz cx="6858000" cy="9144000"/>
  <p:embeddedFontLst>
    <p:embeddedFont>
      <p:font typeface="Montserrat" pitchFamily="2" charset="77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2A01"/>
    <a:srgbClr val="3EB0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4C9111-60C2-4D5A-9001-23935F9D4747}">
  <a:tblStyle styleId="{C54C9111-60C2-4D5A-9001-23935F9D47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9559A69-E68B-49A7-A958-843418CE869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81556"/>
  </p:normalViewPr>
  <p:slideViewPr>
    <p:cSldViewPr snapToGrid="0">
      <p:cViewPr varScale="1">
        <p:scale>
          <a:sx n="129" d="100"/>
          <a:sy n="129" d="100"/>
        </p:scale>
        <p:origin x="1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Hello everyone, we are team 6, today we will present our final project called RSTS, which means Real-Time Speech Translation System. </a:t>
            </a:r>
          </a:p>
          <a:p>
            <a:r>
              <a:rPr lang="en-US" dirty="0"/>
              <a:t>It is a small but complete system that can listen to speech, recognize it, translate it, and optionally speak it back. 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motivation is simple. Real-time translation is useful, but many apps only support full-sentence or cloud only mode. We wanted a simple local system that we can fully control. And this project also helps us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practice WebSocket streaming, </a:t>
            </a:r>
            <a:r>
              <a:rPr lang="en-US" dirty="0" err="1"/>
              <a:t>FastAPI</a:t>
            </a:r>
            <a:r>
              <a:rPr lang="en-US" dirty="0"/>
              <a:t> and  Whisper.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ACE5178D-4704-1B13-EE43-D85C41053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06f1c2d_30:notes">
            <a:extLst>
              <a:ext uri="{FF2B5EF4-FFF2-40B4-BE49-F238E27FC236}">
                <a16:creationId xmlns:a16="http://schemas.microsoft.com/office/drawing/2014/main" id="{AD2C80CA-E26D-CA15-8EA5-F5DBE45B0D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06f1c2d_30:notes">
            <a:extLst>
              <a:ext uri="{FF2B5EF4-FFF2-40B4-BE49-F238E27FC236}">
                <a16:creationId xmlns:a16="http://schemas.microsoft.com/office/drawing/2014/main" id="{3F80ADAC-AC6D-8E52-1B5B-75593179E8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system has three parts. The frontend runs in the browser and captures audio.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backend runs </a:t>
            </a:r>
            <a:r>
              <a:rPr lang="en-US" dirty="0" err="1"/>
              <a:t>FastAPI</a:t>
            </a:r>
            <a:r>
              <a:rPr lang="en-US" dirty="0"/>
              <a:t> and Whisper. The two sides communicate through WebSocket so the system can work in real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9933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backend uses </a:t>
            </a:r>
            <a:r>
              <a:rPr lang="en-US" dirty="0" err="1"/>
              <a:t>FastAPI</a:t>
            </a:r>
            <a:r>
              <a:rPr lang="en-US" dirty="0"/>
              <a:t>. It loads the Whisper small model. It also includes VAD-based segmentation: speech, end, and final recognition.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Translation uses Google Cloud, but I also added a local fallback.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D0F76ED-E0F8-6A94-40A1-D8983AB0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f391192_04:notes">
            <a:extLst>
              <a:ext uri="{FF2B5EF4-FFF2-40B4-BE49-F238E27FC236}">
                <a16:creationId xmlns:a16="http://schemas.microsoft.com/office/drawing/2014/main" id="{8C4474C5-40AB-B2F0-4285-1CDA60C477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f391192_04:notes">
            <a:extLst>
              <a:ext uri="{FF2B5EF4-FFF2-40B4-BE49-F238E27FC236}">
                <a16:creationId xmlns:a16="http://schemas.microsoft.com/office/drawing/2014/main" id="{78A4BF75-3F06-221F-E3EE-8E187A5AB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frontend is lightweight. It captures microphone audio and sends</a:t>
            </a:r>
            <a:r>
              <a:rPr lang="zh-CN" altLang="en-US" dirty="0"/>
              <a:t> </a:t>
            </a:r>
            <a:r>
              <a:rPr lang="en-US" dirty="0"/>
              <a:t>small chunks to the backend.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 shows source text, translated text,</a:t>
            </a:r>
            <a:r>
              <a:rPr lang="zh-CN" altLang="en-US" dirty="0"/>
              <a:t> </a:t>
            </a:r>
            <a:r>
              <a:rPr lang="en-US" dirty="0"/>
              <a:t>and can also request TTS playback.</a:t>
            </a:r>
          </a:p>
        </p:txBody>
      </p:sp>
    </p:spTree>
    <p:extLst>
      <p:ext uri="{BB962C8B-B14F-4D97-AF65-F5344CB8AC3E}">
        <p14:creationId xmlns:p14="http://schemas.microsoft.com/office/powerpoint/2010/main" val="515041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User speaks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Browser captures audio, send it to the backend through WebSocket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Backend detects silence,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Then Whisper model start to transcribe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Then we send the text to Translate model ( like Google translate, </a:t>
            </a:r>
            <a:r>
              <a:rPr lang="en-US" dirty="0" err="1"/>
              <a:t>argos</a:t>
            </a:r>
            <a:r>
              <a:rPr lang="en-US" dirty="0"/>
              <a:t> translate)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Last, TTS play the results.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aemelia_icons.png"/>
          <p:cNvPicPr preferRelativeResize="0"/>
          <p:nvPr/>
        </p:nvPicPr>
        <p:blipFill rotWithShape="1">
          <a:blip r:embed="rId2">
            <a:alphaModFix amt="40000"/>
          </a:blip>
          <a:srcRect t="30860" b="30860"/>
          <a:stretch/>
        </p:blipFill>
        <p:spPr>
          <a:xfrm>
            <a:off x="0" y="-2"/>
            <a:ext cx="9144000" cy="1968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786525" y="1968875"/>
            <a:ext cx="5859600" cy="27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descr="aemelia_icons.png"/>
          <p:cNvPicPr preferRelativeResize="0"/>
          <p:nvPr/>
        </p:nvPicPr>
        <p:blipFill rotWithShape="1">
          <a:blip r:embed="rId2">
            <a:alphaModFix amt="20000"/>
          </a:blip>
          <a:srcRect t="30860" b="30860"/>
          <a:stretch/>
        </p:blipFill>
        <p:spPr>
          <a:xfrm>
            <a:off x="0" y="-2"/>
            <a:ext cx="9144000" cy="196887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2970175" y="3107350"/>
            <a:ext cx="5792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2970175" y="3906852"/>
            <a:ext cx="5792700" cy="7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3"/>
                </a:solidFill>
              </a:defRPr>
            </a:lvl1pPr>
            <a:lvl2pPr lvl="1">
              <a:buNone/>
              <a:defRPr>
                <a:solidFill>
                  <a:schemeClr val="accent3"/>
                </a:solidFill>
              </a:defRPr>
            </a:lvl2pPr>
            <a:lvl3pPr lvl="2">
              <a:buNone/>
              <a:defRPr>
                <a:solidFill>
                  <a:schemeClr val="accent3"/>
                </a:solidFill>
              </a:defRPr>
            </a:lvl3pPr>
            <a:lvl4pPr lvl="3">
              <a:buNone/>
              <a:defRPr>
                <a:solidFill>
                  <a:schemeClr val="accent3"/>
                </a:solidFill>
              </a:defRPr>
            </a:lvl4pPr>
            <a:lvl5pPr lvl="4">
              <a:buNone/>
              <a:defRPr>
                <a:solidFill>
                  <a:schemeClr val="accent3"/>
                </a:solidFill>
              </a:defRPr>
            </a:lvl5pPr>
            <a:lvl6pPr lvl="5">
              <a:buNone/>
              <a:defRPr>
                <a:solidFill>
                  <a:schemeClr val="accent3"/>
                </a:solidFill>
              </a:defRPr>
            </a:lvl6pPr>
            <a:lvl7pPr lvl="6">
              <a:buNone/>
              <a:defRPr>
                <a:solidFill>
                  <a:schemeClr val="accent3"/>
                </a:solidFill>
              </a:defRPr>
            </a:lvl7pPr>
            <a:lvl8pPr lvl="7">
              <a:buNone/>
              <a:defRPr>
                <a:solidFill>
                  <a:schemeClr val="accent3"/>
                </a:solidFill>
              </a:defRPr>
            </a:lvl8pPr>
            <a:lvl9pPr lvl="8">
              <a:buNone/>
              <a:defRPr>
                <a:solidFill>
                  <a:schemeClr val="accent3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descr="aemelia_icons.png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784250" y="222075"/>
            <a:ext cx="6549300" cy="26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82600" rtl="0">
              <a:spcBef>
                <a:spcPts val="600"/>
              </a:spcBef>
              <a:spcAft>
                <a:spcPts val="0"/>
              </a:spcAft>
              <a:buSzPts val="4000"/>
              <a:buChar char="▸"/>
              <a:defRPr sz="4000" b="1" i="1"/>
            </a:lvl1pPr>
            <a:lvl2pPr marL="914400" lvl="1" indent="-482600" rtl="0">
              <a:spcBef>
                <a:spcPts val="0"/>
              </a:spcBef>
              <a:spcAft>
                <a:spcPts val="0"/>
              </a:spcAft>
              <a:buSzPts val="4000"/>
              <a:buChar char="▹"/>
              <a:defRPr sz="4000" b="1" i="1"/>
            </a:lvl2pPr>
            <a:lvl3pPr marL="1371600" lvl="2" indent="-482600" rtl="0">
              <a:spcBef>
                <a:spcPts val="0"/>
              </a:spcBef>
              <a:spcAft>
                <a:spcPts val="0"/>
              </a:spcAft>
              <a:buSzPts val="4000"/>
              <a:buChar char="■"/>
              <a:defRPr sz="4000" b="1" i="1"/>
            </a:lvl3pPr>
            <a:lvl4pPr marL="1828800" lvl="3" indent="-482600" rtl="0">
              <a:spcBef>
                <a:spcPts val="0"/>
              </a:spcBef>
              <a:spcAft>
                <a:spcPts val="0"/>
              </a:spcAft>
              <a:buSzPts val="4000"/>
              <a:buChar char="●"/>
              <a:defRPr sz="4000" b="1" i="1"/>
            </a:lvl4pPr>
            <a:lvl5pPr marL="2286000" lvl="4" indent="-482600" rtl="0">
              <a:spcBef>
                <a:spcPts val="0"/>
              </a:spcBef>
              <a:spcAft>
                <a:spcPts val="0"/>
              </a:spcAft>
              <a:buSzPts val="4000"/>
              <a:buChar char="○"/>
              <a:defRPr sz="4000" b="1" i="1"/>
            </a:lvl5pPr>
            <a:lvl6pPr marL="2743200" lvl="5" indent="-482600" rtl="0">
              <a:spcBef>
                <a:spcPts val="0"/>
              </a:spcBef>
              <a:spcAft>
                <a:spcPts val="0"/>
              </a:spcAft>
              <a:buSzPts val="4000"/>
              <a:buChar char="■"/>
              <a:defRPr sz="4000" b="1" i="1"/>
            </a:lvl6pPr>
            <a:lvl7pPr marL="3200400" lvl="6" indent="-482600" rtl="0">
              <a:spcBef>
                <a:spcPts val="0"/>
              </a:spcBef>
              <a:spcAft>
                <a:spcPts val="0"/>
              </a:spcAft>
              <a:buSzPts val="4000"/>
              <a:buChar char="●"/>
              <a:defRPr sz="4000" b="1" i="1"/>
            </a:lvl7pPr>
            <a:lvl8pPr marL="3657600" lvl="7" indent="-482600" rtl="0">
              <a:spcBef>
                <a:spcPts val="0"/>
              </a:spcBef>
              <a:spcAft>
                <a:spcPts val="0"/>
              </a:spcAft>
              <a:buSzPts val="4000"/>
              <a:buChar char="○"/>
              <a:defRPr sz="4000" b="1" i="1"/>
            </a:lvl8pPr>
            <a:lvl9pPr marL="4114800" lvl="8" indent="-482600">
              <a:spcBef>
                <a:spcPts val="0"/>
              </a:spcBef>
              <a:spcAft>
                <a:spcPts val="0"/>
              </a:spcAft>
              <a:buSzPts val="4000"/>
              <a:buChar char="■"/>
              <a:defRPr sz="4000" b="1" i="1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bg>
      <p:bgPr>
        <a:solidFill>
          <a:schemeClr val="accen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 descr="aemelia_icons.png"/>
          <p:cNvPicPr preferRelativeResize="0"/>
          <p:nvPr/>
        </p:nvPicPr>
        <p:blipFill rotWithShape="1">
          <a:blip r:embed="rId2">
            <a:alphaModFix amt="20000"/>
          </a:blip>
          <a:srcRect l="38542" r="38544"/>
          <a:stretch/>
        </p:blipFill>
        <p:spPr>
          <a:xfrm>
            <a:off x="0" y="0"/>
            <a:ext cx="2095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/>
          <p:nvPr/>
        </p:nvSpPr>
        <p:spPr>
          <a:xfrm flipH="1">
            <a:off x="2095200" y="0"/>
            <a:ext cx="7048800" cy="51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03875" y="1626750"/>
            <a:ext cx="17124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544225" y="297367"/>
            <a:ext cx="2981400" cy="46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▸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5705276" y="297367"/>
            <a:ext cx="2981400" cy="46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▸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>
                <a:solidFill>
                  <a:schemeClr val="accent3"/>
                </a:solidFill>
              </a:defRPr>
            </a:lvl1pPr>
            <a:lvl2pPr lvl="1" rtl="0">
              <a:buNone/>
              <a:defRPr>
                <a:solidFill>
                  <a:schemeClr val="accent3"/>
                </a:solidFill>
              </a:defRPr>
            </a:lvl2pPr>
            <a:lvl3pPr lvl="2" rtl="0">
              <a:buNone/>
              <a:defRPr>
                <a:solidFill>
                  <a:schemeClr val="accent3"/>
                </a:solidFill>
              </a:defRPr>
            </a:lvl3pPr>
            <a:lvl4pPr lvl="3" rtl="0">
              <a:buNone/>
              <a:defRPr>
                <a:solidFill>
                  <a:schemeClr val="accent3"/>
                </a:solidFill>
              </a:defRPr>
            </a:lvl4pPr>
            <a:lvl5pPr lvl="4" rtl="0">
              <a:buNone/>
              <a:defRPr>
                <a:solidFill>
                  <a:schemeClr val="accent3"/>
                </a:solidFill>
              </a:defRPr>
            </a:lvl5pPr>
            <a:lvl6pPr lvl="5" rtl="0">
              <a:buNone/>
              <a:defRPr>
                <a:solidFill>
                  <a:schemeClr val="accent3"/>
                </a:solidFill>
              </a:defRPr>
            </a:lvl6pPr>
            <a:lvl7pPr lvl="6" rtl="0">
              <a:buNone/>
              <a:defRPr>
                <a:solidFill>
                  <a:schemeClr val="accent3"/>
                </a:solidFill>
              </a:defRPr>
            </a:lvl7pPr>
            <a:lvl8pPr lvl="7" rtl="0">
              <a:buNone/>
              <a:defRPr>
                <a:solidFill>
                  <a:schemeClr val="accent3"/>
                </a:solidFill>
              </a:defRPr>
            </a:lvl8pPr>
            <a:lvl9pPr lvl="8" rtl="0">
              <a:buNone/>
              <a:defRPr>
                <a:solidFill>
                  <a:schemeClr val="accent3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">
  <p:cSld name="BLANK_1">
    <p:bg>
      <p:bgPr>
        <a:solidFill>
          <a:schemeClr val="accen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874625" y="484600"/>
            <a:ext cx="5562000" cy="42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Roboto"/>
              <a:buChar char="▸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Roboto"/>
              <a:buChar char="▹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Roboto"/>
              <a:buChar char="■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203875" y="1626750"/>
            <a:ext cx="171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7" r:id="rId5"/>
    <p:sldLayoutId id="2147483658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ctrTitle"/>
          </p:nvPr>
        </p:nvSpPr>
        <p:spPr>
          <a:xfrm>
            <a:off x="39062" y="2223082"/>
            <a:ext cx="8903602" cy="15016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5400" dirty="0">
                <a:solidFill>
                  <a:schemeClr val="bg1"/>
                </a:solidFill>
              </a:rPr>
            </a:br>
            <a:r>
              <a:rPr lang="en" sz="6000" dirty="0">
                <a:solidFill>
                  <a:schemeClr val="bg1"/>
                </a:solidFill>
              </a:rPr>
              <a:t>RSTS</a:t>
            </a:r>
            <a:br>
              <a:rPr lang="en" sz="5400" dirty="0">
                <a:solidFill>
                  <a:schemeClr val="bg1"/>
                </a:solidFill>
              </a:rPr>
            </a:br>
            <a:r>
              <a:rPr lang="en" sz="3200" dirty="0">
                <a:solidFill>
                  <a:schemeClr val="bg1"/>
                </a:solidFill>
              </a:rPr>
              <a:t>R</a:t>
            </a:r>
            <a:r>
              <a:rPr lang="en" sz="3200" dirty="0"/>
              <a:t>eal-time </a:t>
            </a:r>
            <a:r>
              <a:rPr lang="en" sz="3200" dirty="0">
                <a:solidFill>
                  <a:schemeClr val="bg1"/>
                </a:solidFill>
              </a:rPr>
              <a:t>S</a:t>
            </a:r>
            <a:r>
              <a:rPr lang="en" sz="3200" dirty="0"/>
              <a:t>peech </a:t>
            </a:r>
            <a:r>
              <a:rPr lang="en" sz="3200" dirty="0">
                <a:solidFill>
                  <a:schemeClr val="bg1"/>
                </a:solidFill>
              </a:rPr>
              <a:t>T</a:t>
            </a:r>
            <a:r>
              <a:rPr lang="en" sz="3200" dirty="0"/>
              <a:t>ranslation </a:t>
            </a:r>
            <a:r>
              <a:rPr lang="en" sz="3200" dirty="0">
                <a:solidFill>
                  <a:schemeClr val="bg1"/>
                </a:solidFill>
              </a:rPr>
              <a:t>S</a:t>
            </a:r>
            <a:r>
              <a:rPr lang="en" sz="3200" dirty="0"/>
              <a:t>ystem</a:t>
            </a:r>
            <a:endParaRPr dirty="0"/>
          </a:p>
        </p:txBody>
      </p:sp>
      <p:sp>
        <p:nvSpPr>
          <p:cNvPr id="3" name="Google Shape;61;p13">
            <a:extLst>
              <a:ext uri="{FF2B5EF4-FFF2-40B4-BE49-F238E27FC236}">
                <a16:creationId xmlns:a16="http://schemas.microsoft.com/office/drawing/2014/main" id="{399526D7-923A-E725-DD00-752BA1C4F659}"/>
              </a:ext>
            </a:extLst>
          </p:cNvPr>
          <p:cNvSpPr txBox="1">
            <a:spLocks/>
          </p:cNvSpPr>
          <p:nvPr/>
        </p:nvSpPr>
        <p:spPr>
          <a:xfrm>
            <a:off x="39062" y="3959604"/>
            <a:ext cx="9065875" cy="756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4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4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4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4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4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4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4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4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4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br>
              <a:rPr lang="en-US" sz="2800" dirty="0">
                <a:solidFill>
                  <a:schemeClr val="bg1"/>
                </a:solidFill>
              </a:rPr>
            </a:br>
            <a:endParaRPr lang="en-US" sz="2800" dirty="0">
              <a:solidFill>
                <a:schemeClr val="bg1"/>
              </a:solidFill>
            </a:endParaRP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Team 6 : </a:t>
            </a:r>
            <a:r>
              <a:rPr lang="en-US" sz="1400" i="1" dirty="0"/>
              <a:t>Austin Ashworth,  Narin Rahimzadeh,  Muhammad Khushnood, Hao Cheng</a:t>
            </a:r>
            <a:endParaRPr lang="en-US" sz="24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2766998" y="536121"/>
            <a:ext cx="5715151" cy="33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dirty="0"/>
              <a:t>Why build this System?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Real-time translation is useful in daily life.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Many tools only support full sentence mode.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We wanted a simple, local, private system.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Good practice for pre-trained model (like Whisper) and Google API.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69" name="Google Shape;69;p14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4749" y="1714350"/>
            <a:ext cx="1955851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MOTIVATION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164EB904-2DFD-016D-920B-5A292D9E1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C8DDA76D-A271-D58A-77EC-0FAB255282C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136913" y="248008"/>
            <a:ext cx="6898012" cy="13323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dirty="0"/>
              <a:t>System Overview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200" dirty="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 dirty="0"/>
              <a:t>-      Frontend (HTML + JavaScript)               - Backend (Fast API, Whisper) 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 dirty="0"/>
              <a:t>-      WebSocket streaming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FCAF6821-EF57-D004-C921-3EAC961D77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E593A5-0A24-1112-8DF1-357194434BFB}"/>
              </a:ext>
            </a:extLst>
          </p:cNvPr>
          <p:cNvGrpSpPr/>
          <p:nvPr/>
        </p:nvGrpSpPr>
        <p:grpSpPr>
          <a:xfrm>
            <a:off x="2524542" y="1661075"/>
            <a:ext cx="5779594" cy="2682325"/>
            <a:chOff x="2753142" y="1641197"/>
            <a:chExt cx="5779594" cy="268232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CE6BC7D-7F34-2278-9B80-316422222226}"/>
                </a:ext>
              </a:extLst>
            </p:cNvPr>
            <p:cNvSpPr/>
            <p:nvPr/>
          </p:nvSpPr>
          <p:spPr>
            <a:xfrm>
              <a:off x="2753142" y="2221550"/>
              <a:ext cx="959129" cy="13428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Source Voice</a:t>
              </a:r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166DC309-559D-489F-79BD-6CA1FB0DA3AC}"/>
                </a:ext>
              </a:extLst>
            </p:cNvPr>
            <p:cNvSpPr/>
            <p:nvPr/>
          </p:nvSpPr>
          <p:spPr>
            <a:xfrm>
              <a:off x="3861355" y="2643810"/>
              <a:ext cx="780219" cy="24915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0F5007-E43D-E8BA-8806-4CBCDE80512A}"/>
                </a:ext>
              </a:extLst>
            </p:cNvPr>
            <p:cNvSpPr txBox="1"/>
            <p:nvPr/>
          </p:nvSpPr>
          <p:spPr>
            <a:xfrm>
              <a:off x="3945831" y="2396661"/>
              <a:ext cx="9044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Audio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B188EC-6E8F-9412-60B0-0351EA352DEC}"/>
                </a:ext>
              </a:extLst>
            </p:cNvPr>
            <p:cNvSpPr txBox="1"/>
            <p:nvPr/>
          </p:nvSpPr>
          <p:spPr>
            <a:xfrm>
              <a:off x="3781839" y="2865120"/>
              <a:ext cx="10237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Streaming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2792C53-E939-3A03-F9A7-18230A221389}"/>
                </a:ext>
              </a:extLst>
            </p:cNvPr>
            <p:cNvGrpSpPr/>
            <p:nvPr/>
          </p:nvGrpSpPr>
          <p:grpSpPr>
            <a:xfrm>
              <a:off x="4790658" y="1641197"/>
              <a:ext cx="1779105" cy="2682325"/>
              <a:chOff x="4790658" y="1716983"/>
              <a:chExt cx="1779105" cy="2682325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E752DE0-EF4E-0203-5B99-A7DF1B642893}"/>
                  </a:ext>
                </a:extLst>
              </p:cNvPr>
              <p:cNvSpPr/>
              <p:nvPr/>
            </p:nvSpPr>
            <p:spPr>
              <a:xfrm>
                <a:off x="4790658" y="1716983"/>
                <a:ext cx="1779105" cy="2682325"/>
              </a:xfrm>
              <a:prstGeom prst="rect">
                <a:avLst/>
              </a:prstGeom>
              <a:solidFill>
                <a:srgbClr val="3EB0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09D32E5D-C74D-22A1-54BE-844BEFD4F581}"/>
                  </a:ext>
                </a:extLst>
              </p:cNvPr>
              <p:cNvSpPr/>
              <p:nvPr/>
            </p:nvSpPr>
            <p:spPr>
              <a:xfrm>
                <a:off x="4951345" y="2528724"/>
                <a:ext cx="1461050" cy="478404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Speech Recognition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2FEEFFF5-E995-1CF5-E9B7-6F1F7FF517E9}"/>
                  </a:ext>
                </a:extLst>
              </p:cNvPr>
              <p:cNvSpPr/>
              <p:nvPr/>
            </p:nvSpPr>
            <p:spPr>
              <a:xfrm>
                <a:off x="4951345" y="3132864"/>
                <a:ext cx="1461050" cy="478404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Translation</a:t>
                </a:r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3D8F42DB-57C2-B880-9CAA-C05099B50412}"/>
                  </a:ext>
                </a:extLst>
              </p:cNvPr>
              <p:cNvSpPr/>
              <p:nvPr/>
            </p:nvSpPr>
            <p:spPr>
              <a:xfrm>
                <a:off x="4951345" y="3737004"/>
                <a:ext cx="1461050" cy="478404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TTS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D700E35-734F-2350-E081-9B92380C62E7}"/>
                  </a:ext>
                </a:extLst>
              </p:cNvPr>
              <p:cNvSpPr txBox="1"/>
              <p:nvPr/>
            </p:nvSpPr>
            <p:spPr>
              <a:xfrm>
                <a:off x="4856924" y="1830466"/>
                <a:ext cx="164989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</a:rPr>
                  <a:t>Backend </a:t>
                </a:r>
              </a:p>
              <a:p>
                <a:pPr algn="ctr"/>
                <a:r>
                  <a:rPr lang="en-US" sz="1600" dirty="0">
                    <a:solidFill>
                      <a:schemeClr val="bg1"/>
                    </a:solidFill>
                  </a:rPr>
                  <a:t>Processing</a:t>
                </a:r>
              </a:p>
            </p:txBody>
          </p:sp>
        </p:grp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90FF9798-CCF1-5F23-740D-594E50207E8D}"/>
                </a:ext>
              </a:extLst>
            </p:cNvPr>
            <p:cNvSpPr/>
            <p:nvPr/>
          </p:nvSpPr>
          <p:spPr>
            <a:xfrm>
              <a:off x="6778481" y="2609605"/>
              <a:ext cx="785193" cy="22304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3FEC6F4-0787-82D3-89A1-DEBB26E3FA39}"/>
                </a:ext>
              </a:extLst>
            </p:cNvPr>
            <p:cNvSpPr txBox="1"/>
            <p:nvPr/>
          </p:nvSpPr>
          <p:spPr>
            <a:xfrm>
              <a:off x="6778481" y="2375116"/>
              <a:ext cx="9044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Text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24817ED-F6FF-7044-DA66-081DD9B9D8B2}"/>
                </a:ext>
              </a:extLst>
            </p:cNvPr>
            <p:cNvSpPr txBox="1"/>
            <p:nvPr/>
          </p:nvSpPr>
          <p:spPr>
            <a:xfrm>
              <a:off x="6778481" y="2832652"/>
              <a:ext cx="9044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AC90C2F-3FD5-C056-6D96-6A70857260AE}"/>
                </a:ext>
              </a:extLst>
            </p:cNvPr>
            <p:cNvSpPr/>
            <p:nvPr/>
          </p:nvSpPr>
          <p:spPr>
            <a:xfrm>
              <a:off x="7628276" y="2077845"/>
              <a:ext cx="904460" cy="1332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Text</a:t>
              </a:r>
            </a:p>
            <a:p>
              <a:pPr algn="ctr"/>
              <a:r>
                <a:rPr lang="en-US" dirty="0"/>
                <a:t>Display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2217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subTitle" idx="4294967295"/>
          </p:nvPr>
        </p:nvSpPr>
        <p:spPr>
          <a:xfrm>
            <a:off x="2544418" y="190194"/>
            <a:ext cx="5571300" cy="21455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dirty="0"/>
              <a:t>Key backend modules</a:t>
            </a:r>
            <a:endParaRPr sz="2400" dirty="0"/>
          </a:p>
          <a:p>
            <a:pPr marL="0" lvl="0" indent="0">
              <a:spcBef>
                <a:spcPts val="1000"/>
              </a:spcBef>
              <a:buClr>
                <a:schemeClr val="dk1"/>
              </a:buClr>
              <a:buSzPts val="1100"/>
              <a:buNone/>
            </a:pPr>
            <a:r>
              <a:rPr lang="en-US" sz="1600" dirty="0"/>
              <a:t>- Whisper small model</a:t>
            </a:r>
          </a:p>
          <a:p>
            <a:pPr marL="0" lvl="0" indent="0">
              <a:spcBef>
                <a:spcPts val="1000"/>
              </a:spcBef>
              <a:buClr>
                <a:schemeClr val="dk1"/>
              </a:buClr>
              <a:buSzPts val="1100"/>
              <a:buNone/>
            </a:pPr>
            <a:r>
              <a:rPr lang="en-US" sz="1600" dirty="0"/>
              <a:t>- VAD-based segmentation</a:t>
            </a:r>
          </a:p>
          <a:p>
            <a:pPr marL="0" lvl="0" indent="0">
              <a:spcBef>
                <a:spcPts val="1000"/>
              </a:spcBef>
              <a:buClr>
                <a:schemeClr val="dk1"/>
              </a:buClr>
              <a:buSzPts val="1100"/>
              <a:buNone/>
            </a:pPr>
            <a:r>
              <a:rPr lang="en-US" sz="1600" dirty="0"/>
              <a:t>- Translation (Google API + Argos translate)</a:t>
            </a:r>
          </a:p>
          <a:p>
            <a:pPr marL="0" lvl="0" indent="0">
              <a:spcBef>
                <a:spcPts val="1000"/>
              </a:spcBef>
              <a:buClr>
                <a:schemeClr val="dk1"/>
              </a:buClr>
              <a:buSzPts val="1100"/>
              <a:buNone/>
            </a:pPr>
            <a:r>
              <a:rPr lang="en-US" sz="1600" dirty="0"/>
              <a:t>- TTS endpoint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600" dirty="0"/>
          </a:p>
        </p:txBody>
      </p:sp>
      <p:sp>
        <p:nvSpPr>
          <p:cNvPr id="78" name="Google Shape;78;p15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4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8CA174-6A44-F580-93C7-B0102C90A9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9895" y="146024"/>
            <a:ext cx="10128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</a:rPr>
              <a:t>4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4" name="Google Shape;78;p15">
            <a:extLst>
              <a:ext uri="{FF2B5EF4-FFF2-40B4-BE49-F238E27FC236}">
                <a16:creationId xmlns:a16="http://schemas.microsoft.com/office/drawing/2014/main" id="{D013E86A-BCB9-AAA5-3BED-E3DBEA6B742A}"/>
              </a:ext>
            </a:extLst>
          </p:cNvPr>
          <p:cNvSpPr txBox="1">
            <a:spLocks/>
          </p:cNvSpPr>
          <p:nvPr/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600" b="1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600" b="1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600" b="1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600" b="1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600" b="1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600" b="1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600" b="1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600" b="1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600" b="1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FFFFFF"/>
                </a:solidFill>
              </a:rPr>
              <a:pPr/>
              <a:t>4</a:t>
            </a:fld>
            <a:endParaRPr lang="en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73FAB2-F469-4766-A43B-FAB3F8021AF0}"/>
              </a:ext>
            </a:extLst>
          </p:cNvPr>
          <p:cNvPicPr/>
          <p:nvPr/>
        </p:nvPicPr>
        <p:blipFill>
          <a:blip r:embed="rId3"/>
          <a:srcRect l="17591" r="17150" b="-999"/>
          <a:stretch>
            <a:fillRect/>
          </a:stretch>
        </p:blipFill>
        <p:spPr>
          <a:xfrm>
            <a:off x="0" y="1015021"/>
            <a:ext cx="2286001" cy="377619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241709F-D362-FD49-5D01-C0905D184239}"/>
              </a:ext>
            </a:extLst>
          </p:cNvPr>
          <p:cNvSpPr/>
          <p:nvPr/>
        </p:nvSpPr>
        <p:spPr>
          <a:xfrm>
            <a:off x="0" y="0"/>
            <a:ext cx="2286001" cy="1052717"/>
          </a:xfrm>
          <a:prstGeom prst="rect">
            <a:avLst/>
          </a:prstGeom>
          <a:solidFill>
            <a:srgbClr val="692A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59F0FA-A4F8-851B-F2AB-BE2AE397E1A7}"/>
              </a:ext>
            </a:extLst>
          </p:cNvPr>
          <p:cNvSpPr/>
          <p:nvPr/>
        </p:nvSpPr>
        <p:spPr>
          <a:xfrm>
            <a:off x="0" y="4641574"/>
            <a:ext cx="2286001" cy="501926"/>
          </a:xfrm>
          <a:prstGeom prst="rect">
            <a:avLst/>
          </a:prstGeom>
          <a:solidFill>
            <a:srgbClr val="692A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45B297-F738-3E06-31BD-FF5EF4F04C99}"/>
              </a:ext>
            </a:extLst>
          </p:cNvPr>
          <p:cNvSpPr txBox="1"/>
          <p:nvPr/>
        </p:nvSpPr>
        <p:spPr>
          <a:xfrm>
            <a:off x="179895" y="146024"/>
            <a:ext cx="10128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</a:rPr>
              <a:t>4</a:t>
            </a: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C80C9F-3D83-0F07-EAD6-808C63E59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544" y="2777923"/>
            <a:ext cx="2591352" cy="138896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00ECE24-971C-3D57-1378-05C126F01940}"/>
              </a:ext>
            </a:extLst>
          </p:cNvPr>
          <p:cNvGrpSpPr/>
          <p:nvPr/>
        </p:nvGrpSpPr>
        <p:grpSpPr>
          <a:xfrm>
            <a:off x="2722425" y="2940815"/>
            <a:ext cx="3019077" cy="673100"/>
            <a:chOff x="2573340" y="3281660"/>
            <a:chExt cx="3019077" cy="6731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4C3AEA5-0E19-A9CB-7782-46A52FD3A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73340" y="3281660"/>
              <a:ext cx="1536700" cy="6731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45EFC0E-2D37-694A-FBCB-2FC4452E9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22368" y="3281660"/>
              <a:ext cx="1670049" cy="556683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0FC1E93-458E-C946-6936-2F3AD081EFC9}"/>
              </a:ext>
            </a:extLst>
          </p:cNvPr>
          <p:cNvSpPr txBox="1"/>
          <p:nvPr/>
        </p:nvSpPr>
        <p:spPr>
          <a:xfrm>
            <a:off x="2742303" y="4487685"/>
            <a:ext cx="28435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openai.com</a:t>
            </a:r>
            <a:r>
              <a:rPr lang="en-US" dirty="0"/>
              <a:t>/index/whisper/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9EE9ED01-2909-E7DC-D53B-25E98B8A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5F24AB21-98DE-D988-9D30-215C13357FF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806767" y="331206"/>
            <a:ext cx="5571300" cy="1855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dirty="0"/>
              <a:t>Main features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/>
              <a:t>- Microphone capture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/>
              <a:t>- Source text / Translation display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/>
              <a:t>- TTS toggle</a:t>
            </a: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10E79C3E-92C2-BB52-5BAF-0C97908E4C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5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2BF93-F2AD-12F8-951E-5F83669A3D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9895" y="146024"/>
            <a:ext cx="10128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</a:rPr>
              <a:t>4</a:t>
            </a: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2CC6BE-4871-625A-F10F-EEA5456D94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50" r="4218"/>
          <a:stretch>
            <a:fillRect/>
          </a:stretch>
        </p:blipFill>
        <p:spPr>
          <a:xfrm>
            <a:off x="0" y="0"/>
            <a:ext cx="2533488" cy="5143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3909BD5-7927-4A52-859D-A33F7F30209F}"/>
              </a:ext>
            </a:extLst>
          </p:cNvPr>
          <p:cNvSpPr txBox="1"/>
          <p:nvPr/>
        </p:nvSpPr>
        <p:spPr>
          <a:xfrm>
            <a:off x="1882476" y="-193134"/>
            <a:ext cx="10128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dirty="0">
                <a:solidFill>
                  <a:schemeClr val="bg1"/>
                </a:solidFill>
              </a:rPr>
              <a:t>5</a:t>
            </a: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1074DC-E926-1A5A-2CFC-A56F9884A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692" y="2116485"/>
            <a:ext cx="6302178" cy="283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15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ctrTitle"/>
          </p:nvPr>
        </p:nvSpPr>
        <p:spPr>
          <a:xfrm>
            <a:off x="1133154" y="322186"/>
            <a:ext cx="3674041" cy="9004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 flow</a:t>
            </a:r>
            <a:endParaRPr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000D86-74CA-A5FA-92E0-FD6B46643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91" y="1863013"/>
            <a:ext cx="7772400" cy="23915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F2E1F-9EC1-F997-E90E-6A06B43E3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84250" y="222075"/>
            <a:ext cx="6549300" cy="1176749"/>
          </a:xfrm>
        </p:spPr>
        <p:txBody>
          <a:bodyPr/>
          <a:lstStyle/>
          <a:p>
            <a:r>
              <a:rPr lang="en-US" dirty="0"/>
              <a:t>Demo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ctrTitle" idx="4294967295"/>
          </p:nvPr>
        </p:nvSpPr>
        <p:spPr>
          <a:xfrm>
            <a:off x="1219200" y="25739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Thanks</a:t>
            </a:r>
            <a:endParaRPr sz="7200" dirty="0"/>
          </a:p>
        </p:txBody>
      </p:sp>
      <p:sp>
        <p:nvSpPr>
          <p:cNvPr id="104" name="Google Shape;104;p19"/>
          <p:cNvSpPr txBox="1">
            <a:spLocks noGrp="1"/>
          </p:cNvSpPr>
          <p:nvPr>
            <p:ph type="subTitle" idx="4294967295"/>
          </p:nvPr>
        </p:nvSpPr>
        <p:spPr>
          <a:xfrm>
            <a:off x="1264101" y="3716350"/>
            <a:ext cx="65130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Team 6 : 	</a:t>
            </a:r>
            <a:r>
              <a:rPr lang="en-US" sz="1800" i="1" dirty="0">
                <a:solidFill>
                  <a:schemeClr val="bg2"/>
                </a:solidFill>
              </a:rPr>
              <a:t>Austin Ashworth,  Narin Rahimzadeh, </a:t>
            </a:r>
          </a:p>
          <a:p>
            <a:pPr marL="38100" indent="0">
              <a:buNone/>
            </a:pPr>
            <a:r>
              <a:rPr lang="en-US" sz="1800" i="1" dirty="0">
                <a:solidFill>
                  <a:schemeClr val="bg2"/>
                </a:solidFill>
              </a:rPr>
              <a:t>		Muhammad Khushnood, Hao Cheng</a:t>
            </a:r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0B5394"/>
                </a:solidFill>
              </a:rPr>
              <a:t>8</a:t>
            </a:fld>
            <a:endParaRPr>
              <a:solidFill>
                <a:srgbClr val="0B5394"/>
              </a:solidFill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1836939" y="988479"/>
            <a:ext cx="317310" cy="302979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19"/>
          <p:cNvGrpSpPr/>
          <p:nvPr/>
        </p:nvGrpSpPr>
        <p:grpSpPr>
          <a:xfrm>
            <a:off x="2391964" y="496450"/>
            <a:ext cx="1426316" cy="1426403"/>
            <a:chOff x="6643075" y="3664250"/>
            <a:chExt cx="407950" cy="407975"/>
          </a:xfrm>
        </p:grpSpPr>
        <p:sp>
          <p:nvSpPr>
            <p:cNvPr id="108" name="Google Shape;108;p19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" name="Google Shape;110;p19"/>
          <p:cNvGrpSpPr/>
          <p:nvPr/>
        </p:nvGrpSpPr>
        <p:grpSpPr>
          <a:xfrm>
            <a:off x="1415230" y="1774588"/>
            <a:ext cx="659664" cy="659627"/>
            <a:chOff x="576250" y="4319400"/>
            <a:chExt cx="442075" cy="442050"/>
          </a:xfrm>
        </p:grpSpPr>
        <p:sp>
          <p:nvSpPr>
            <p:cNvPr id="111" name="Google Shape;111;p19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9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9"/>
          <p:cNvSpPr/>
          <p:nvPr/>
        </p:nvSpPr>
        <p:spPr>
          <a:xfrm rot="6223920">
            <a:off x="3953912" y="935426"/>
            <a:ext cx="317280" cy="302951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2746847" y="2045899"/>
            <a:ext cx="250224" cy="238923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melia template">
  <a:themeElements>
    <a:clrScheme name="Custom 347">
      <a:dk1>
        <a:srgbClr val="073763"/>
      </a:dk1>
      <a:lt1>
        <a:srgbClr val="FFFFFF"/>
      </a:lt1>
      <a:dk2>
        <a:srgbClr val="3F4247"/>
      </a:dk2>
      <a:lt2>
        <a:srgbClr val="CFD9E1"/>
      </a:lt2>
      <a:accent1>
        <a:srgbClr val="6FA8DC"/>
      </a:accent1>
      <a:accent2>
        <a:srgbClr val="0B5394"/>
      </a:accent2>
      <a:accent3>
        <a:srgbClr val="9FC5E8"/>
      </a:accent3>
      <a:accent4>
        <a:srgbClr val="CFD9E1"/>
      </a:accent4>
      <a:accent5>
        <a:srgbClr val="A1EFFF"/>
      </a:accent5>
      <a:accent6>
        <a:srgbClr val="5AB1C9"/>
      </a:accent6>
      <a:hlink>
        <a:srgbClr val="0B5394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433</Words>
  <Application>Microsoft Macintosh PowerPoint</Application>
  <PresentationFormat>On-screen Show (16:9)</PresentationFormat>
  <Paragraphs>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Montserrat</vt:lpstr>
      <vt:lpstr>Roboto</vt:lpstr>
      <vt:lpstr>Aemelia template</vt:lpstr>
      <vt:lpstr> RSTS Real-time Speech Translation System</vt:lpstr>
      <vt:lpstr>MOTIVATION</vt:lpstr>
      <vt:lpstr>PowerPoint Presentation</vt:lpstr>
      <vt:lpstr>PowerPoint Presentation</vt:lpstr>
      <vt:lpstr>PowerPoint Presentation</vt:lpstr>
      <vt:lpstr>Work flow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 Cheng 3</cp:lastModifiedBy>
  <cp:revision>6</cp:revision>
  <dcterms:modified xsi:type="dcterms:W3CDTF">2025-11-13T22:34:02Z</dcterms:modified>
</cp:coreProperties>
</file>